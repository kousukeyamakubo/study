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5Zfm+FOtUHoZPPpxdCtYzr7nh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表紙">
  <p:cSld name="表紙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/>
          <p:nvPr/>
        </p:nvSpPr>
        <p:spPr>
          <a:xfrm rot="5400000">
            <a:off x="10084324" y="15200"/>
            <a:ext cx="1593200" cy="1562800"/>
          </a:xfrm>
          <a:prstGeom prst="homePlate">
            <a:avLst>
              <a:gd fmla="val 26569" name="adj"/>
            </a:avLst>
          </a:prstGeom>
          <a:solidFill>
            <a:srgbClr val="2D2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/>
          <p:nvPr/>
        </p:nvSpPr>
        <p:spPr>
          <a:xfrm>
            <a:off x="0" y="0"/>
            <a:ext cx="480000" cy="6858000"/>
          </a:xfrm>
          <a:prstGeom prst="rect">
            <a:avLst/>
          </a:prstGeom>
          <a:solidFill>
            <a:srgbClr val="2D2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9"/>
          <p:cNvSpPr/>
          <p:nvPr/>
        </p:nvSpPr>
        <p:spPr>
          <a:xfrm>
            <a:off x="452203" y="0"/>
            <a:ext cx="144000" cy="6858000"/>
          </a:xfrm>
          <a:prstGeom prst="rect">
            <a:avLst/>
          </a:prstGeom>
          <a:solidFill>
            <a:srgbClr val="FED0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/>
          <p:nvPr/>
        </p:nvSpPr>
        <p:spPr>
          <a:xfrm>
            <a:off x="1048405" y="778636"/>
            <a:ext cx="7680000" cy="18000"/>
          </a:xfrm>
          <a:prstGeom prst="rect">
            <a:avLst/>
          </a:prstGeom>
          <a:solidFill>
            <a:srgbClr val="2D2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9"/>
          <p:cNvSpPr txBox="1"/>
          <p:nvPr>
            <p:ph idx="1" type="body"/>
          </p:nvPr>
        </p:nvSpPr>
        <p:spPr>
          <a:xfrm>
            <a:off x="1048405" y="334600"/>
            <a:ext cx="768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2D287F"/>
              </a:buClr>
              <a:buSzPts val="1800"/>
              <a:buFont typeface="Arial"/>
              <a:buNone/>
              <a:defRPr b="0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9"/>
          <p:cNvSpPr txBox="1"/>
          <p:nvPr>
            <p:ph idx="2" type="body"/>
          </p:nvPr>
        </p:nvSpPr>
        <p:spPr>
          <a:xfrm>
            <a:off x="10152000" y="26858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descr="†大阪大学大学院情報科学研究科 ‡カリフォルニア大学ロサンゼルス校" id="18" name="Google Shape;18;p9" title="†大阪大学大学院情報科学研究科 ‡カリフォルニア大学ロサンゼルス校"/>
          <p:cNvSpPr txBox="1"/>
          <p:nvPr>
            <p:ph idx="3" type="body"/>
          </p:nvPr>
        </p:nvSpPr>
        <p:spPr>
          <a:xfrm>
            <a:off x="1048405" y="4674464"/>
            <a:ext cx="1065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2D287F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9"/>
          <p:cNvSpPr txBox="1"/>
          <p:nvPr>
            <p:ph type="title"/>
          </p:nvPr>
        </p:nvSpPr>
        <p:spPr>
          <a:xfrm>
            <a:off x="1048405" y="1993263"/>
            <a:ext cx="10656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F"/>
              </a:buClr>
              <a:buSzPts val="3000"/>
              <a:buFont typeface="Meiryo"/>
              <a:buNone/>
              <a:defRPr b="1" i="0" sz="40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9"/>
          <p:cNvSpPr txBox="1"/>
          <p:nvPr>
            <p:ph idx="4" type="body"/>
          </p:nvPr>
        </p:nvSpPr>
        <p:spPr>
          <a:xfrm>
            <a:off x="1048405" y="3787547"/>
            <a:ext cx="10656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2D287F"/>
              </a:buClr>
              <a:buSzPts val="1800"/>
              <a:buFont typeface="Arial"/>
              <a:buNone/>
              <a:defRPr b="0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9"/>
          <p:cNvSpPr txBox="1"/>
          <p:nvPr>
            <p:ph idx="5" type="body"/>
          </p:nvPr>
        </p:nvSpPr>
        <p:spPr>
          <a:xfrm>
            <a:off x="10152000" y="644784"/>
            <a:ext cx="144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" name="Google Shape;22;p9"/>
          <p:cNvGrpSpPr/>
          <p:nvPr/>
        </p:nvGrpSpPr>
        <p:grpSpPr>
          <a:xfrm>
            <a:off x="8402047" y="5952995"/>
            <a:ext cx="3620023" cy="905005"/>
            <a:chOff x="8402047" y="5952995"/>
            <a:chExt cx="3620023" cy="905005"/>
          </a:xfrm>
        </p:grpSpPr>
        <p:pic>
          <p:nvPicPr>
            <p:cNvPr id="23" name="Google Shape;23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402047" y="5952995"/>
              <a:ext cx="3620023" cy="9050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4;p9"/>
            <p:cNvSpPr txBox="1"/>
            <p:nvPr/>
          </p:nvSpPr>
          <p:spPr>
            <a:xfrm>
              <a:off x="9118319" y="6594585"/>
              <a:ext cx="1188000" cy="1077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ja-JP" sz="700" u="none" cap="none" strike="noStrike">
                  <a:solidFill>
                    <a:srgbClr val="393486"/>
                  </a:solidFill>
                  <a:latin typeface="Arial"/>
                  <a:ea typeface="Arial"/>
                  <a:cs typeface="Arial"/>
                  <a:sym typeface="Arial"/>
                </a:rPr>
                <a:t>The University of Osaka</a:t>
              </a:r>
              <a:endParaRPr b="0" i="0" sz="700" u="none" cap="none" strike="noStrike">
                <a:solidFill>
                  <a:srgbClr val="39348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" name="Google Shape;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3504" y="5812070"/>
            <a:ext cx="2764901" cy="1199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ノーマルスライド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title"/>
          </p:nvPr>
        </p:nvSpPr>
        <p:spPr>
          <a:xfrm>
            <a:off x="1152000" y="396000"/>
            <a:ext cx="9792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F"/>
              </a:buClr>
              <a:buSzPts val="2700"/>
              <a:buFont typeface="Meiryo"/>
              <a:buNone/>
              <a:defRPr b="1" i="0" sz="36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0"/>
          <p:cNvSpPr txBox="1"/>
          <p:nvPr>
            <p:ph idx="1" type="body"/>
          </p:nvPr>
        </p:nvSpPr>
        <p:spPr>
          <a:xfrm>
            <a:off x="576000" y="1404000"/>
            <a:ext cx="110400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0"/>
          <p:cNvSpPr/>
          <p:nvPr/>
        </p:nvSpPr>
        <p:spPr>
          <a:xfrm>
            <a:off x="-1" y="1079999"/>
            <a:ext cx="11040000" cy="36000"/>
          </a:xfrm>
          <a:prstGeom prst="rect">
            <a:avLst/>
          </a:prstGeom>
          <a:solidFill>
            <a:srgbClr val="2D2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0"/>
          <p:cNvSpPr txBox="1"/>
          <p:nvPr>
            <p:ph idx="12" type="sldNum"/>
          </p:nvPr>
        </p:nvSpPr>
        <p:spPr>
          <a:xfrm>
            <a:off x="11086513" y="185125"/>
            <a:ext cx="9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pic>
        <p:nvPicPr>
          <p:cNvPr id="31" name="Google Shape;3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扉絵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1440005" y="1709739"/>
            <a:ext cx="96000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D287F"/>
              </a:buClr>
              <a:buSzPts val="3000"/>
              <a:buFont typeface="Meiryo"/>
              <a:buNone/>
              <a:defRPr b="1" i="0" sz="40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1"/>
          <p:cNvSpPr txBox="1"/>
          <p:nvPr>
            <p:ph idx="1" type="body"/>
          </p:nvPr>
        </p:nvSpPr>
        <p:spPr>
          <a:xfrm>
            <a:off x="1440011" y="3600000"/>
            <a:ext cx="960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11086513" y="185125"/>
            <a:ext cx="9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6" name="Google Shape;36;p11"/>
          <p:cNvSpPr/>
          <p:nvPr/>
        </p:nvSpPr>
        <p:spPr>
          <a:xfrm>
            <a:off x="715617" y="1709739"/>
            <a:ext cx="480000" cy="5148400"/>
          </a:xfrm>
          <a:prstGeom prst="rect">
            <a:avLst/>
          </a:prstGeom>
          <a:solidFill>
            <a:srgbClr val="2D2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1"/>
          <p:cNvSpPr/>
          <p:nvPr/>
        </p:nvSpPr>
        <p:spPr>
          <a:xfrm>
            <a:off x="1167820" y="1709739"/>
            <a:ext cx="144000" cy="5148400"/>
          </a:xfrm>
          <a:prstGeom prst="rect">
            <a:avLst/>
          </a:prstGeom>
          <a:solidFill>
            <a:srgbClr val="FED00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1"/>
          <p:cNvSpPr/>
          <p:nvPr/>
        </p:nvSpPr>
        <p:spPr>
          <a:xfrm>
            <a:off x="1440005" y="3365869"/>
            <a:ext cx="9600000" cy="36000"/>
          </a:xfrm>
          <a:prstGeom prst="rect">
            <a:avLst/>
          </a:prstGeom>
          <a:solidFill>
            <a:srgbClr val="2D2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11"/>
          <p:cNvPicPr preferRelativeResize="0"/>
          <p:nvPr/>
        </p:nvPicPr>
        <p:blipFill rotWithShape="1">
          <a:blip r:embed="rId2">
            <a:alphaModFix amt="6000"/>
          </a:blip>
          <a:srcRect b="0" l="0" r="0" t="0"/>
          <a:stretch/>
        </p:blipFill>
        <p:spPr>
          <a:xfrm>
            <a:off x="7981121" y="2384683"/>
            <a:ext cx="5056360" cy="5056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カラム">
  <p:cSld name="2カラム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idx="1" type="body"/>
          </p:nvPr>
        </p:nvSpPr>
        <p:spPr>
          <a:xfrm>
            <a:off x="576000" y="1404000"/>
            <a:ext cx="52800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12"/>
          <p:cNvSpPr txBox="1"/>
          <p:nvPr>
            <p:ph idx="2" type="body"/>
          </p:nvPr>
        </p:nvSpPr>
        <p:spPr>
          <a:xfrm>
            <a:off x="6336000" y="1404000"/>
            <a:ext cx="52800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12"/>
          <p:cNvSpPr txBox="1"/>
          <p:nvPr>
            <p:ph idx="12" type="sldNum"/>
          </p:nvPr>
        </p:nvSpPr>
        <p:spPr>
          <a:xfrm>
            <a:off x="11086513" y="185125"/>
            <a:ext cx="9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4" name="Google Shape;44;p12"/>
          <p:cNvSpPr txBox="1"/>
          <p:nvPr>
            <p:ph type="title"/>
          </p:nvPr>
        </p:nvSpPr>
        <p:spPr>
          <a:xfrm>
            <a:off x="1152000" y="396000"/>
            <a:ext cx="9792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87F"/>
              </a:buClr>
              <a:buSzPts val="2700"/>
              <a:buFont typeface="Meiryo"/>
              <a:buNone/>
              <a:defRPr b="1" i="0" sz="36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2"/>
          <p:cNvSpPr/>
          <p:nvPr/>
        </p:nvSpPr>
        <p:spPr>
          <a:xfrm>
            <a:off x="-1" y="1079999"/>
            <a:ext cx="11040000" cy="36000"/>
          </a:xfrm>
          <a:prstGeom prst="rect">
            <a:avLst/>
          </a:prstGeom>
          <a:solidFill>
            <a:srgbClr val="2D2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11086513" y="185125"/>
            <a:ext cx="9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D287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研究室週次ミーティング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1 大阪大学大学院情報科学研究科</a:t>
            </a:r>
          </a:p>
          <a:p>
            <a:r>
              <a:t>2 理化学研究所計算科学研究センター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実測パイプライン構築の進捗（0908フェーズ）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（発表者名を入力してください）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2026年9月8日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前回のおさらい（8/17）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sim（グリッド不整合の論点）は一旦保留</a:t>
            </a:r>
          </a:p>
          <a:p>
            <a:pPr/>
            <a:r>
              <a:t>主軸は「実測の学習データを集めること」と「後処理を作って結果を見ること」</a:t>
            </a:r>
          </a:p>
          <a:p>
            <a:pPr/>
            <a:r>
              <a:t>モデルの入力設計（角度情報の渡し方）が論点として浮上、判断は本日9/8へ</a:t>
            </a:r>
          </a:p>
          <a:p>
            <a:pPr lvl="1"/>
            <a:r>
              <a:t>DBFで角度を潰してRADテンソルを作るか、複素位相のまま渡すか</a:t>
            </a:r>
          </a:p>
          <a:p>
            <a:pPr lvl="1"/>
            <a:r>
              <a:t>DBFは14.5°量子化＝40mで±10m相当、ラベル精度0.13mとは2桁の差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0908フェーズの目的と全体像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目的: 「DBFで角度を潰すか、生の位相のまま渡すか」を判断する材料（実測SNR・素子間位相の安定性）を得る</a:t>
            </a:r>
          </a:p>
          <a:p>
            <a:pPr/>
            <a:r>
              <a:t>同時に、どちらに転んでも使える実測の学習データを集める</a:t>
            </a:r>
          </a:p>
          <a:p>
            <a:pPr/>
            <a:r>
              <a:t>パイプライン: 撮影（レーダー+カメラ同時）→ レーダー: 複素RD抽出／カメラ: YOLO+ByteTrack検出 → 対応付け → 地上座標(X,Y)ラベル化</a:t>
            </a:r>
          </a:p>
          <a:p>
            <a:pPr/>
            <a:r>
              <a:t>後処理（CFAR+NMS+追尾）と生位相モデルのプロトタイプは、モデル非依存の部品として並行して進められる</a:t>
            </a:r>
          </a:p>
          <a:p>
            <a:pPr/>
            <a:r>
              <a:t>机上でできる部品（同期・対応付け骨格・後処理・カメラ較正・.dat設定特定）は完了。ボトルネックは本番撮影の実施そのもの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今週の進捗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H8: .datヘッダのRemove Static Clutterフラグ位置を特定（0x72、1byte）</a:t>
            </a:r>
          </a:p>
          <a:p>
            <a:pPr/>
            <a:r>
              <a:t>S1: レーダー・カメラの時刻同期を確認（10秒×2本でカメラ枚数=レーダーフレーム数=50が一致）</a:t>
            </a:r>
          </a:p>
          <a:p>
            <a:pPr/>
            <a:r>
              <a:t>S3: カメラ検出とレーダーピークの対応付けを骨格実装、合成データで検証済み（実測データでの較正はこれから）</a:t>
            </a:r>
          </a:p>
          <a:p>
            <a:pPr/>
            <a:r>
              <a:t>S5: 後処理（ピーク抽出→NMS→追尾）を実装、合成データでSNR依存の検出率・トラック連続性を確認</a:t>
            </a:r>
          </a:p>
          <a:p>
            <a:pPr/>
            <a:r>
              <a:t>H3/S2: カメラ内部パラメータKの較正完了（3840×2160、RMS 1.35px）。h・俯角の試算値はまだ信頼性未検証</a:t>
            </a:r>
          </a:p>
          <a:p>
            <a:pPr/>
            <a:r>
              <a:t>bicycle/motorcycleの二重検出をmerge_cyclist()側で対応済み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課題・論点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本題（DBF vs 生位相）を含め、未確定項目のほとんどが実測データ待ちで足止め中</a:t>
            </a:r>
          </a:p>
          <a:p>
            <a:pPr/>
            <a:r>
              <a:t>クラス識別が「速度のしきい値」に堕ちるリスク: 既存実測ではドップラーだけで歩行者/自転車がきれいに分離してしまう</a:t>
            </a:r>
          </a:p>
          <a:p>
            <a:pPr lvl="1"/>
            <a:r>
              <a:t>対策: 自転車を歩行速度でゆっくり走らせる本数を撮影計画に混ぜる</a:t>
            </a:r>
          </a:p>
          <a:p>
            <a:pPr/>
            <a:r>
              <a:t>マーカー地物の選定が手動・場所依存のボトルネック候補（ArUco/ChArUcoマーカーへの切替を検討中）</a:t>
            </a:r>
          </a:p>
          <a:p>
            <a:pPr/>
            <a:r>
              <a:t>track_id=-1の扱いは誤結合リスクを優先して保留継続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次にやること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H1: 撮影セッション×2（週末・研究室）— レーダーとカメラを同時に回す</a:t>
            </a:r>
          </a:p>
          <a:p>
            <a:pPr lvl="1"/>
            <a:r>
              <a:t>シナリオ: 単独ベースライン、歩行速度cyclist、cyclist+pedestrian近接配置、cyclist×2近接、横切りなど7区分×20本</a:t>
            </a:r>
          </a:p>
          <a:p>
            <a:pPr/>
            <a:r>
              <a:t>8/17指摘6点の残り: 窓開閉比較、Remove Static Clutter ON/OFF比較、リフレクタによる距離軸検証を同一セッションで撮る</a:t>
            </a:r>
          </a:p>
          <a:p>
            <a:pPr/>
            <a:r>
              <a:t>実測データが揃い次第: S3のゲート較正・3体以上の対応付け検証、S4教師テンソル組み立て、DBF vs 生位相の判断</a:t>
            </a:r>
          </a:p>
          <a:p>
            <a:pPr/>
            <a:r>
              <a:t>h・俯角の実測値とチェスボード較正の試算値を突き合わせる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東野研">
  <a:themeElements>
    <a:clrScheme name="東野研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D277F"/>
      </a:accent1>
      <a:accent2>
        <a:srgbClr val="FDCF01"/>
      </a:accent2>
      <a:accent3>
        <a:srgbClr val="C9CAC9"/>
      </a:accent3>
      <a:accent4>
        <a:srgbClr val="EA2100"/>
      </a:accent4>
      <a:accent5>
        <a:srgbClr val="3E92FF"/>
      </a:accent5>
      <a:accent6>
        <a:srgbClr val="70AD47"/>
      </a:accent6>
      <a:hlink>
        <a:srgbClr val="2D277F"/>
      </a:hlink>
      <a:folHlink>
        <a:srgbClr val="2D27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2026-04-25T06:47:03Z</dcterms:created>
  <dc:creator>YONEKURA Haruki</dc:creator>
</cp:coreProperties>
</file>