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5Zfm+FOtUHoZPPpxdCtYzr7n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表紙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/>
          <p:nvPr/>
        </p:nvSpPr>
        <p:spPr>
          <a:xfrm rot="5400000">
            <a:off x="10084324" y="15200"/>
            <a:ext cx="1593200" cy="1562800"/>
          </a:xfrm>
          <a:prstGeom prst="homePlate">
            <a:avLst>
              <a:gd fmla="val 26569" name="adj"/>
            </a:avLst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0" y="0"/>
            <a:ext cx="480000" cy="6858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452203" y="0"/>
            <a:ext cx="144000" cy="6858000"/>
          </a:xfrm>
          <a:prstGeom prst="rect">
            <a:avLst/>
          </a:prstGeom>
          <a:solidFill>
            <a:srgbClr val="FED0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/>
          <p:nvPr/>
        </p:nvSpPr>
        <p:spPr>
          <a:xfrm>
            <a:off x="1048405" y="778636"/>
            <a:ext cx="7680000" cy="18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1048405" y="334600"/>
            <a:ext cx="768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800"/>
              <a:buFont typeface="Arial"/>
              <a:buNone/>
              <a:defRPr b="0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2" type="body"/>
          </p:nvPr>
        </p:nvSpPr>
        <p:spPr>
          <a:xfrm>
            <a:off x="10152000" y="26858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descr="†大阪大学大学院情報科学研究科 ‡カリフォルニア大学ロサンゼルス校" id="18" name="Google Shape;18;p9" title="†大阪大学大学院情報科学研究科 ‡カリフォルニア大学ロサンゼルス校"/>
          <p:cNvSpPr txBox="1"/>
          <p:nvPr>
            <p:ph idx="3" type="body"/>
          </p:nvPr>
        </p:nvSpPr>
        <p:spPr>
          <a:xfrm>
            <a:off x="1048405" y="4674464"/>
            <a:ext cx="106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type="title"/>
          </p:nvPr>
        </p:nvSpPr>
        <p:spPr>
          <a:xfrm>
            <a:off x="1048405" y="1993263"/>
            <a:ext cx="10656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3000"/>
              <a:buFont typeface="Meiryo"/>
              <a:buNone/>
              <a:defRPr b="1" i="0" sz="40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4" type="body"/>
          </p:nvPr>
        </p:nvSpPr>
        <p:spPr>
          <a:xfrm>
            <a:off x="1048405" y="3787547"/>
            <a:ext cx="106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800"/>
              <a:buFont typeface="Arial"/>
              <a:buNone/>
              <a:defRPr b="0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9"/>
          <p:cNvSpPr txBox="1"/>
          <p:nvPr>
            <p:ph idx="5" type="body"/>
          </p:nvPr>
        </p:nvSpPr>
        <p:spPr>
          <a:xfrm>
            <a:off x="10152000" y="644784"/>
            <a:ext cx="14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" name="Google Shape;22;p9"/>
          <p:cNvGrpSpPr/>
          <p:nvPr/>
        </p:nvGrpSpPr>
        <p:grpSpPr>
          <a:xfrm>
            <a:off x="8402047" y="5952995"/>
            <a:ext cx="3620023" cy="905005"/>
            <a:chOff x="8402047" y="5952995"/>
            <a:chExt cx="3620023" cy="905005"/>
          </a:xfrm>
        </p:grpSpPr>
        <p:pic>
          <p:nvPicPr>
            <p:cNvPr id="23" name="Google Shape;23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02047" y="5952995"/>
              <a:ext cx="3620023" cy="9050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9"/>
            <p:cNvSpPr txBox="1"/>
            <p:nvPr/>
          </p:nvSpPr>
          <p:spPr>
            <a:xfrm>
              <a:off x="9118319" y="6594585"/>
              <a:ext cx="1188000" cy="107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ja-JP" sz="700" u="none" cap="none" strike="noStrike">
                  <a:solidFill>
                    <a:srgbClr val="393486"/>
                  </a:solidFill>
                  <a:latin typeface="Arial"/>
                  <a:ea typeface="Arial"/>
                  <a:cs typeface="Arial"/>
                  <a:sym typeface="Arial"/>
                </a:rPr>
                <a:t>The University of Osaka</a:t>
              </a:r>
              <a:endParaRPr b="0" i="0" sz="700" u="none" cap="none" strike="noStrike">
                <a:solidFill>
                  <a:srgbClr val="39348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" name="Google Shape;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3504" y="5812070"/>
            <a:ext cx="2764901" cy="11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ノーマルスライド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1152000" y="396000"/>
            <a:ext cx="9792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2700"/>
              <a:buFont typeface="Meiryo"/>
              <a:buNone/>
              <a:defRPr b="1" i="0" sz="3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576000" y="1404000"/>
            <a:ext cx="1104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"/>
          <p:cNvSpPr/>
          <p:nvPr/>
        </p:nvSpPr>
        <p:spPr>
          <a:xfrm>
            <a:off x="-1" y="1079999"/>
            <a:ext cx="1104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31" name="Google Shape;3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扉絵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1440005" y="1709739"/>
            <a:ext cx="96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3000"/>
              <a:buFont typeface="Meiryo"/>
              <a:buNone/>
              <a:defRPr b="1" i="0" sz="40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1440011" y="3600000"/>
            <a:ext cx="96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11"/>
          <p:cNvSpPr/>
          <p:nvPr/>
        </p:nvSpPr>
        <p:spPr>
          <a:xfrm>
            <a:off x="715617" y="1709739"/>
            <a:ext cx="480000" cy="51484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1"/>
          <p:cNvSpPr/>
          <p:nvPr/>
        </p:nvSpPr>
        <p:spPr>
          <a:xfrm>
            <a:off x="1167820" y="1709739"/>
            <a:ext cx="144000" cy="5148400"/>
          </a:xfrm>
          <a:prstGeom prst="rect">
            <a:avLst/>
          </a:prstGeom>
          <a:solidFill>
            <a:srgbClr val="FED0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1"/>
          <p:cNvSpPr/>
          <p:nvPr/>
        </p:nvSpPr>
        <p:spPr>
          <a:xfrm>
            <a:off x="1440005" y="3365869"/>
            <a:ext cx="960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7981121" y="2384683"/>
            <a:ext cx="5056360" cy="505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カラム">
  <p:cSld name="2カラム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576000" y="1404000"/>
            <a:ext cx="528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6336000" y="1404000"/>
            <a:ext cx="528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152000" y="396000"/>
            <a:ext cx="9792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2700"/>
              <a:buFont typeface="Meiryo"/>
              <a:buNone/>
              <a:defRPr b="1" i="0" sz="3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2"/>
          <p:cNvSpPr/>
          <p:nvPr/>
        </p:nvSpPr>
        <p:spPr>
          <a:xfrm>
            <a:off x="-1" y="1079999"/>
            <a:ext cx="1104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Weekly Lab Meeting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1 Graduate School of Information Science and Technology, Osaka University</a:t>
            </a:r>
          </a:p>
          <a:p>
            <a:r>
              <a:t>2 RIKEN Center for Computational Science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on the Real-World Data Pipeline (Phase 0908)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(Enter presenter name)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September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the Last Meeting (Aug 17)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Simulation work (the grid-mismatch question) is on hold for now</a:t>
            </a:r>
          </a:p>
          <a:p>
            <a:pPr/>
            <a:r>
              <a:t>Main focus: collect real-world training data, and build post-processing to see actual results</a:t>
            </a:r>
          </a:p>
          <a:p>
            <a:pPr/>
            <a:r>
              <a:t>A new open question emerged: how to feed angle information into the model — decision deferred to today (9/8)</a:t>
            </a:r>
          </a:p>
          <a:p>
            <a:pPr lvl="1"/>
            <a:r>
              <a:t>Collapse angle via DBF into a RAD tensor, or feed the raw complex phase directly</a:t>
            </a:r>
          </a:p>
          <a:p>
            <a:pPr lvl="1"/>
            <a:r>
              <a:t>DBF quantizes to 14.5° (≈ ±10 m at 40 m range) — two orders of magnitude coarser than the 0.13 m label precision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and Structure of Phase 0908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Goal: gather the evidence (real SNR, inter-element phase stability) needed to decide DBF vs. raw phase</a:t>
            </a:r>
          </a:p>
          <a:p>
            <a:pPr/>
            <a:r>
              <a:t>In parallel, collect real-world training data that will be usable either way</a:t>
            </a:r>
          </a:p>
          <a:p>
            <a:pPr/>
            <a:r>
              <a:t>Pipeline: simultaneous radar+camera capture → radar: complex RD extraction / camera: YOLO+ByteTrack detection → association → ground-plane (X, Y) labeling</a:t>
            </a:r>
          </a:p>
          <a:p>
            <a:pPr/>
            <a:r>
              <a:t>Post-processing (CFAR + NMS + tracking) and the raw-phase model prototype are model-agnostic pieces that can proceed in parallel</a:t>
            </a:r>
          </a:p>
          <a:p>
            <a:pPr/>
            <a:r>
              <a:t>All the desk-work components (sync, association skeleton, post-processing, camera calibration, .dat header decoding) are done — the bottleneck is now the actual field shoot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This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H8: Located the Remove-Static-Clutter flag in the .dat header (0x72, 1 byte)</a:t>
            </a:r>
          </a:p>
          <a:p>
            <a:pPr/>
            <a:r>
              <a:t>S1: Verified radar–camera time sync (camera frame count matches radar frame count, 50=50, over two 10-second runs)</a:t>
            </a:r>
          </a:p>
          <a:p>
            <a:pPr/>
            <a:r>
              <a:t>S3: Implemented the camera–radar association skeleton and validated it on synthetic data (calibration on real data is still pending)</a:t>
            </a:r>
          </a:p>
          <a:p>
            <a:pPr/>
            <a:r>
              <a:t>S5: Implemented post-processing (peak extraction → NMS → tracking) and confirmed SNR-dependent detection rate and track continuity on synthetic data</a:t>
            </a:r>
          </a:p>
          <a:p>
            <a:pPr/>
            <a:r>
              <a:t>H3/S2: Completed intrinsic camera calibration (3840×2160, RMS 1.35 px); the estimated height/tilt angle still needs validation</a:t>
            </a:r>
          </a:p>
          <a:p>
            <a:pPr/>
            <a:r>
              <a:t>Resolved duplicate bicycle/motorcycle detections inside merge_cyclist()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Issues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Most open items — including the core DBF-vs-raw-phase question — are blocked on real measurement data</a:t>
            </a:r>
          </a:p>
          <a:p>
            <a:pPr/>
            <a:r>
              <a:t>Risk that class discrimination collapses into a speed threshold: existing recordings already separate pedestrian vs. cyclist cleanly by Doppler alone</a:t>
            </a:r>
          </a:p>
          <a:p>
            <a:pPr lvl="1"/>
            <a:r>
              <a:t>Mitigation: include runs where the cyclist rides at walking speed in the shooting plan</a:t>
            </a:r>
          </a:p>
          <a:p>
            <a:pPr/>
            <a:r>
              <a:t>Manual, location-dependent marker selection is a likely bottleneck — considering a switch to ArUco/ChArUco markers</a:t>
            </a:r>
          </a:p>
          <a:p>
            <a:pPr/>
            <a:r>
              <a:t>Handling of track_id = -1 remains deferred, prioritizing the risk of mismatched associations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H1: Two field shooting sessions (weekend, in the lab) — radar and camera running simultaneously</a:t>
            </a:r>
          </a:p>
          <a:p>
            <a:pPr lvl="1"/>
            <a:r>
              <a:t>Scenarios: solo baselines, walking-speed cyclist, close cyclist+pedestrian, two close cyclists, crossing paths — 7 categories × 20 runs each</a:t>
            </a:r>
          </a:p>
          <a:p>
            <a:pPr/>
            <a:r>
              <a:t>Remaining items from the advisor's 6 points: window open/closed comparison, Remove-Static-Clutter ON/OFF comparison, reflector-based range-axis check — all within the same session</a:t>
            </a:r>
          </a:p>
          <a:p>
            <a:pPr/>
            <a:r>
              <a:t>Once real data is in hand: calibrate S3's association gates, validate 3+-target association, assemble the S4 supervision tensor, and decide DBF vs. raw phase</a:t>
            </a:r>
          </a:p>
          <a:p>
            <a:pPr/>
            <a:r>
              <a:t>Cross-check the measured height/tilt angle against the checkerboard-calibration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東野研">
  <a:themeElements>
    <a:clrScheme name="東野研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277F"/>
      </a:accent1>
      <a:accent2>
        <a:srgbClr val="FDCF01"/>
      </a:accent2>
      <a:accent3>
        <a:srgbClr val="C9CAC9"/>
      </a:accent3>
      <a:accent4>
        <a:srgbClr val="EA2100"/>
      </a:accent4>
      <a:accent5>
        <a:srgbClr val="3E92FF"/>
      </a:accent5>
      <a:accent6>
        <a:srgbClr val="70AD47"/>
      </a:accent6>
      <a:hlink>
        <a:srgbClr val="2D277F"/>
      </a:hlink>
      <a:folHlink>
        <a:srgbClr val="2D27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2026-04-25T06:47:03Z</dcterms:created>
  <dc:creator>YONEKURA Haruki</dc:creator>
</cp:coreProperties>
</file>